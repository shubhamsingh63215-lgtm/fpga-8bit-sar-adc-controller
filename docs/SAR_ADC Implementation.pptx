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4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437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23C3AB-7A76-42CB-B667-8FD09C375846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F93694-F042-47EC-B0E5-ACD5C77F54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301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93694-F042-47EC-B0E5-ACD5C77F549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073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0556" y="1300786"/>
            <a:ext cx="8687713" cy="2509213"/>
          </a:xfrm>
        </p:spPr>
        <p:txBody>
          <a:bodyPr anchor="b">
            <a:normAutofit/>
          </a:bodyPr>
          <a:lstStyle>
            <a:lvl1pPr algn="ctr"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0556" y="3886201"/>
            <a:ext cx="8687713" cy="1371599"/>
          </a:xfrm>
        </p:spPr>
        <p:txBody>
          <a:bodyPr>
            <a:normAutofit/>
          </a:bodyPr>
          <a:lstStyle>
            <a:lvl1pPr marL="0" indent="0" algn="ctr">
              <a:buNone/>
              <a:defRPr sz="2199">
                <a:solidFill>
                  <a:schemeClr val="bg1">
                    <a:lumMod val="50000"/>
                  </a:schemeClr>
                </a:solidFill>
              </a:defRPr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74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536" y="2367093"/>
            <a:ext cx="10361127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767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36" y="828564"/>
            <a:ext cx="10349056" cy="2736819"/>
          </a:xfrm>
        </p:spPr>
        <p:txBody>
          <a:bodyPr anchor="b">
            <a:normAutofit/>
          </a:bodyPr>
          <a:lstStyle>
            <a:lvl1pPr>
              <a:defRPr sz="3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536" y="3657458"/>
            <a:ext cx="10349056" cy="1368183"/>
          </a:xfrm>
        </p:spPr>
        <p:txBody>
          <a:bodyPr>
            <a:normAutofit/>
          </a:bodyPr>
          <a:lstStyle>
            <a:lvl1pPr marL="0" indent="0" algn="ctr">
              <a:buNone/>
              <a:defRPr sz="1999">
                <a:solidFill>
                  <a:schemeClr val="bg1">
                    <a:lumMod val="50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69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537" y="618518"/>
            <a:ext cx="10361752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536" y="2367093"/>
            <a:ext cx="510469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0593" y="2367093"/>
            <a:ext cx="51040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7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537" y="618518"/>
            <a:ext cx="10361752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029" y="2371018"/>
            <a:ext cx="4872205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5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537" y="3051013"/>
            <a:ext cx="510469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4757" y="2371018"/>
            <a:ext cx="4880533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5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0593" y="3051013"/>
            <a:ext cx="510407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54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67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37" y="609600"/>
            <a:ext cx="3934663" cy="2023252"/>
          </a:xfrm>
        </p:spPr>
        <p:txBody>
          <a:bodyPr anchor="b"/>
          <a:lstStyle>
            <a:lvl1pPr algn="ctr"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6740" y="609601"/>
            <a:ext cx="6198548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37" y="2632852"/>
            <a:ext cx="3934664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6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37" y="609600"/>
            <a:ext cx="5933423" cy="2023254"/>
          </a:xfrm>
        </p:spPr>
        <p:txBody>
          <a:bodyPr anchor="b"/>
          <a:lstStyle>
            <a:lvl1pPr algn="ctr"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2870" y="609601"/>
            <a:ext cx="3254510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7" y="2632853"/>
            <a:ext cx="5933403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72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56" y="4289374"/>
            <a:ext cx="10361733" cy="81161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435" y="698261"/>
            <a:ext cx="9819974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36" y="5108728"/>
            <a:ext cx="10361753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338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36" y="609600"/>
            <a:ext cx="10361753" cy="3427245"/>
          </a:xfrm>
        </p:spPr>
        <p:txBody>
          <a:bodyPr anchor="ctr"/>
          <a:lstStyle>
            <a:lvl1pPr algn="ctr"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37" y="4204821"/>
            <a:ext cx="10361753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58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609600"/>
            <a:ext cx="9300329" cy="2992904"/>
          </a:xfrm>
        </p:spPr>
        <p:txBody>
          <a:bodyPr anchor="ctr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196" y="3610032"/>
            <a:ext cx="8750020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36" y="4372797"/>
            <a:ext cx="10361753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227" y="75416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4809" y="29935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9268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37" y="2138722"/>
            <a:ext cx="10361753" cy="2511835"/>
          </a:xfrm>
        </p:spPr>
        <p:txBody>
          <a:bodyPr anchor="b"/>
          <a:lstStyle>
            <a:lvl1pPr algn="ctr"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37" y="4662335"/>
            <a:ext cx="1036175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0044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536" y="609600"/>
            <a:ext cx="10361753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536" y="2367093"/>
            <a:ext cx="329811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536" y="2943356"/>
            <a:ext cx="3298117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1230" y="2367093"/>
            <a:ext cx="3290664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0192" y="2943356"/>
            <a:ext cx="330249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1222" y="2367093"/>
            <a:ext cx="330406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1222" y="2943356"/>
            <a:ext cx="3304067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93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536" y="610772"/>
            <a:ext cx="10361753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536" y="4204820"/>
            <a:ext cx="329555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1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536" y="2367093"/>
            <a:ext cx="3295551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536" y="4781082"/>
            <a:ext cx="3295551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1602" y="4204820"/>
            <a:ext cx="330096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1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0191" y="2367093"/>
            <a:ext cx="330249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0191" y="4781081"/>
            <a:ext cx="330249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1222" y="4204820"/>
            <a:ext cx="32998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1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1222" y="2367093"/>
            <a:ext cx="3304067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1097" y="4781079"/>
            <a:ext cx="3304192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8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537" y="2367094"/>
            <a:ext cx="10361753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48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609602"/>
            <a:ext cx="2552661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537" y="609602"/>
            <a:ext cx="7656730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82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8882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537" y="618518"/>
            <a:ext cx="10361752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537" y="2367094"/>
            <a:ext cx="10361753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6737" y="5883276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537" y="5883276"/>
            <a:ext cx="6671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1273" y="5883276"/>
            <a:ext cx="7640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79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  <p:sldLayoutId id="2147483937" r:id="rId13"/>
    <p:sldLayoutId id="2147483938" r:id="rId14"/>
    <p:sldLayoutId id="2147483939" r:id="rId15"/>
    <p:sldLayoutId id="2147483940" r:id="rId16"/>
    <p:sldLayoutId id="2147483941" r:id="rId17"/>
  </p:sldLayoutIdLst>
  <p:txStyles>
    <p:titleStyle>
      <a:lvl1pPr algn="ctr" defTabSz="914126" rtl="0" eaLnBrk="1" latinLnBrk="0" hangingPunct="1">
        <a:lnSpc>
          <a:spcPct val="90000"/>
        </a:lnSpc>
        <a:spcBef>
          <a:spcPct val="0"/>
        </a:spcBef>
        <a:buNone/>
        <a:defRPr sz="3599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1999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799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27648CF-AA5F-CEF5-80EC-D749083B356D}"/>
              </a:ext>
            </a:extLst>
          </p:cNvPr>
          <p:cNvSpPr/>
          <p:nvPr/>
        </p:nvSpPr>
        <p:spPr>
          <a:xfrm>
            <a:off x="2534078" y="333931"/>
            <a:ext cx="7588360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SAR </a:t>
            </a:r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ADC Implementation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EC7B3E-01F5-B3E5-6A82-4C61F4AE6DBE}"/>
              </a:ext>
            </a:extLst>
          </p:cNvPr>
          <p:cNvSpPr/>
          <p:nvPr/>
        </p:nvSpPr>
        <p:spPr>
          <a:xfrm>
            <a:off x="584087" y="1420794"/>
            <a:ext cx="1120691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Light SemiConde" panose="020B0502040204020203" pitchFamily="34" charset="0"/>
              </a:rPr>
              <a:t>Topic : Design and FGPA implementation of SAR ADC Digital logic and controller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981D57-6FFE-9FCD-743E-67A4C22072B9}"/>
              </a:ext>
            </a:extLst>
          </p:cNvPr>
          <p:cNvSpPr/>
          <p:nvPr/>
        </p:nvSpPr>
        <p:spPr>
          <a:xfrm>
            <a:off x="6048694" y="2589529"/>
            <a:ext cx="5854487" cy="29238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Presented by</a:t>
            </a:r>
          </a:p>
          <a:p>
            <a:pPr algn="ctr"/>
            <a:r>
              <a:rPr lang="en-US" sz="3200" b="1" dirty="0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Jayant Punj (UE235057)</a:t>
            </a:r>
          </a:p>
          <a:p>
            <a:pPr algn="ctr"/>
            <a:r>
              <a:rPr lang="en-US" sz="3200" b="1" dirty="0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Shubham Singh(UEM235139)</a:t>
            </a:r>
          </a:p>
          <a:p>
            <a:pPr algn="ctr"/>
            <a:endParaRPr lang="en-US" sz="3200" b="1" dirty="0">
              <a:ln/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Presented to</a:t>
            </a:r>
          </a:p>
          <a:p>
            <a:pPr algn="ctr"/>
            <a:r>
              <a:rPr lang="en-US" sz="3200" b="1" dirty="0">
                <a:ln/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Arvind Kumar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E27136B-281E-9046-FC16-51E0919EA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0" y="2330116"/>
            <a:ext cx="2670590" cy="238098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1C4C4DD-2837-18F4-AEA3-3DDBA7EA97CE}"/>
              </a:ext>
            </a:extLst>
          </p:cNvPr>
          <p:cNvSpPr/>
          <p:nvPr/>
        </p:nvSpPr>
        <p:spPr>
          <a:xfrm>
            <a:off x="285644" y="4852431"/>
            <a:ext cx="537281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Branch: B.E (ECE), 6</a:t>
            </a:r>
            <a:r>
              <a:rPr lang="en-US" sz="3200" b="1" cap="none" spc="0" baseline="300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</a:t>
            </a:r>
            <a:r>
              <a:rPr lang="en-US" sz="32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Semester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4572" y="4019"/>
            <a:ext cx="12188952" cy="91440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8BBD4"/>
                </a:solidFill>
                <a:latin typeface="Calibri"/>
              </a:rPr>
              <a:t>SAR ADC — FPGA Implementation | Jayant Punj &amp; Shubham Singh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4D8"/>
                </a:solidFill>
                <a:latin typeface="Calibri"/>
              </a:rPr>
              <a:t>What is an ADC?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7132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latin typeface="Calibri"/>
              </a:rPr>
              <a:t>An Analog-to-Digital Converter (ADC) is an electronic component that converts continuous, physical analog signals (like voltage, sound, or temperature) into discrete binary digital data that microprocessors can process.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80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00B4D8"/>
                </a:solidFill>
                <a:latin typeface="Calibri"/>
              </a:rPr>
              <a:t>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latin typeface="Calibri"/>
              </a:rPr>
              <a:t>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64408"/>
            <a:ext cx="2280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latin typeface="Calibri"/>
              </a:rPr>
              <a:t>Very fast conversion
High power consumption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2880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288036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latin typeface="Calibri"/>
              </a:rPr>
              <a:t>Sigma-Delta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8972" y="3282696"/>
            <a:ext cx="2280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latin typeface="Calibri"/>
              </a:rPr>
              <a:t>High resolution
High power at bandwidth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4184" y="2880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88036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latin typeface="Calibri"/>
              </a:rPr>
              <a:t>SAR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9904" y="3264408"/>
            <a:ext cx="2194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latin typeface="Calibri"/>
              </a:rPr>
              <a:t>Power efficient
Binary search algorithm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9096" y="2880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288036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latin typeface="Calibri"/>
              </a:rPr>
              <a:t>Pipelined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14816" y="3264408"/>
            <a:ext cx="2194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latin typeface="Calibri"/>
              </a:rPr>
              <a:t>High throughput
Very complex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31752" y="6537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BD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1440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is SAR ADC?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73152"/>
            <a:ext cx="54864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120247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02060"/>
                </a:solidFill>
                <a:latin typeface="Calibri"/>
              </a:rPr>
              <a:t>SAR ADC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" y="1600200"/>
            <a:ext cx="65193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latin typeface="Calibri"/>
              </a:rPr>
              <a:t>A Successive Approximation Register (SAR) ADC is a type of analog-to</a:t>
            </a:r>
            <a:r>
              <a:rPr lang="en-IN" b="0" i="0" dirty="0">
                <a:latin typeface="Calibri"/>
              </a:rPr>
              <a:t> </a:t>
            </a:r>
            <a:r>
              <a:rPr b="0" i="0" dirty="0">
                <a:latin typeface="Calibri"/>
              </a:rPr>
              <a:t>digital converter that uses a binary search algorithm to convert continuous analog waveforms into discrete digital representations</a:t>
            </a:r>
            <a:r>
              <a:rPr b="0" i="0" dirty="0">
                <a:solidFill>
                  <a:srgbClr val="E0EAF5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5943600" cy="914400"/>
          </a:xfrm>
          <a:prstGeom prst="rect">
            <a:avLst/>
          </a:prstGeom>
          <a:solidFill>
            <a:srgbClr val="16263B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54864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48CAE4"/>
                </a:solidFill>
                <a:latin typeface="Calibri"/>
              </a:rPr>
              <a:t>Flash ADC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7355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8BBD4"/>
                </a:solidFill>
                <a:latin typeface="Calibri"/>
              </a:rPr>
              <a:t>Very fast but power hungry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5943600" cy="914400"/>
          </a:xfrm>
          <a:prstGeom prst="rect">
            <a:avLst/>
          </a:prstGeom>
          <a:solidFill>
            <a:srgbClr val="16263B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886200"/>
            <a:ext cx="54864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48CAE4"/>
                </a:solidFill>
                <a:latin typeface="Calibri"/>
              </a:rPr>
              <a:t>Pipelined ADC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2511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8BBD4"/>
                </a:solidFill>
                <a:latin typeface="Calibri"/>
              </a:rPr>
              <a:t>Very complex architecture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37760"/>
            <a:ext cx="5943600" cy="914400"/>
          </a:xfrm>
          <a:prstGeom prst="rect">
            <a:avLst/>
          </a:prstGeom>
          <a:solidFill>
            <a:srgbClr val="16263B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4937760"/>
            <a:ext cx="54864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48CAE4"/>
                </a:solidFill>
                <a:latin typeface="Calibri"/>
              </a:rPr>
              <a:t>Sigma-Delta ADC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7667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8BBD4"/>
                </a:solidFill>
                <a:latin typeface="Calibri"/>
              </a:rPr>
              <a:t>High power at higher bandwidth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31752" y="6537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BD4"/>
                </a:solidFill>
                <a:latin typeface="Calibri"/>
              </a:rPr>
              <a:t>3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421612D-365C-24FF-8EBF-DD9D080EA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906" y="2189821"/>
            <a:ext cx="4701993" cy="28393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4572" y="9144"/>
            <a:ext cx="12188952" cy="91440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6324" y="193379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Working Principle of SAR ADC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422505"/>
            <a:ext cx="11247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latin typeface="Calibri"/>
              </a:rPr>
              <a:t>A Successive Approximation Register (SAR) ADC converts analog signals to digital by using a binary search algorithm to compare the input voltage against a DAC-generated voltage, one bit at a time, starting from the Most Significant Bit (MSB).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952" y="2916450"/>
            <a:ext cx="1888236" cy="1473539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1461" y="2919233"/>
            <a:ext cx="1888236" cy="41477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233172" y="2961168"/>
            <a:ext cx="1888236" cy="26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D1B2A"/>
                </a:solidFill>
                <a:latin typeface="Calibri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" y="3320291"/>
            <a:ext cx="1888236" cy="284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48CAE4"/>
                </a:solidFill>
                <a:latin typeface="Calibri"/>
              </a:rPr>
              <a:t>SAMPLE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019" y="3653220"/>
            <a:ext cx="16894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A8BBD4"/>
                </a:solidFill>
                <a:latin typeface="Calibri"/>
              </a:rPr>
              <a:t>Capture analog input voltage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8" y="3347723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59152" y="2936243"/>
            <a:ext cx="1755648" cy="1473538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359152" y="2936243"/>
            <a:ext cx="173736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59152" y="2972819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33202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  <a:latin typeface="Calibri"/>
              </a:rPr>
              <a:t>SET MSB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0592" y="3661010"/>
            <a:ext cx="1554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A8BBD4"/>
                </a:solidFill>
                <a:latin typeface="Calibri"/>
              </a:rPr>
              <a:t>Set </a:t>
            </a:r>
            <a:r>
              <a:rPr lang="en-IN" sz="1400" b="0" i="0" dirty="0">
                <a:solidFill>
                  <a:srgbClr val="A8BBD4"/>
                </a:solidFill>
                <a:latin typeface="Calibri"/>
              </a:rPr>
              <a:t>the </a:t>
            </a:r>
            <a:r>
              <a:rPr sz="1400" b="0" i="0" dirty="0">
                <a:solidFill>
                  <a:srgbClr val="A8BBD4"/>
                </a:solidFill>
                <a:latin typeface="Calibri"/>
              </a:rPr>
              <a:t>most significant bit to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347723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52544" y="2936243"/>
            <a:ext cx="1728089" cy="1464394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52544" y="2936243"/>
            <a:ext cx="173736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52544" y="2972819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2544" y="33202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  <a:latin typeface="Calibri"/>
              </a:rPr>
              <a:t>COMPARE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3667763"/>
            <a:ext cx="1554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A8BBD4"/>
                </a:solidFill>
                <a:latin typeface="Calibri"/>
              </a:rPr>
              <a:t>Compare Vin vs DAC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3347723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45936" y="2936243"/>
            <a:ext cx="1755648" cy="1473538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45936" y="2936243"/>
            <a:ext cx="173736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45936" y="2972819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Step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33202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  <a:latin typeface="Calibri"/>
              </a:rPr>
              <a:t>DECIDE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3661009"/>
            <a:ext cx="1554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A8BBD4"/>
                </a:solidFill>
                <a:latin typeface="Calibri"/>
              </a:rPr>
              <a:t>Keep or reset bit based on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1584" y="3347723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/>
              </a:rPr>
              <a:t>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66886" y="2936243"/>
            <a:ext cx="1709801" cy="1473538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39328" y="2936243"/>
            <a:ext cx="173736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39328" y="2972819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Step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8" y="33202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  <a:latin typeface="Calibri"/>
              </a:rPr>
              <a:t>SHIFT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1624" y="3636086"/>
            <a:ext cx="1554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A8BBD4"/>
                </a:solidFill>
                <a:latin typeface="Calibri"/>
              </a:rPr>
              <a:t>Move to next lower bit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4976" y="3347723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/>
              </a:rPr>
              <a:t>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314431" y="2936243"/>
            <a:ext cx="1755649" cy="1464394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332720" y="2936243"/>
            <a:ext cx="173736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332720" y="2972819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Step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33202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  <a:latin typeface="Calibri"/>
              </a:rPr>
              <a:t>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3661008"/>
            <a:ext cx="15544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A8BBD4"/>
                </a:solidFill>
                <a:latin typeface="Calibri"/>
              </a:rPr>
              <a:t>After N cycles, digital result</a:t>
            </a:r>
            <a:r>
              <a:rPr lang="en-IN" sz="1400" b="0" i="0" dirty="0">
                <a:solidFill>
                  <a:srgbClr val="A8BBD4"/>
                </a:solidFill>
                <a:latin typeface="Calibri"/>
              </a:rPr>
              <a:t> is</a:t>
            </a:r>
            <a:r>
              <a:rPr sz="1400" b="0" i="0" dirty="0">
                <a:solidFill>
                  <a:srgbClr val="A8BBD4"/>
                </a:solidFill>
                <a:latin typeface="Calibri"/>
              </a:rPr>
              <a:t> ready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31752" y="6537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BD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8288"/>
            <a:ext cx="12188952" cy="91440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Objective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9476" y="1527709"/>
            <a:ext cx="11247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latin typeface="Calibri"/>
              </a:rPr>
              <a:t>In this project, we design and implement the digital logic and controller of a SAR ADC using Verilog on a </a:t>
            </a:r>
            <a:endParaRPr lang="en-IN" b="0" i="0" dirty="0">
              <a:latin typeface="Calibri"/>
            </a:endParaRPr>
          </a:p>
          <a:p>
            <a:pPr algn="l"/>
            <a:r>
              <a:rPr b="1" i="0" dirty="0">
                <a:latin typeface="Calibri"/>
              </a:rPr>
              <a:t>PYNQ-Z2 FPGA</a:t>
            </a:r>
            <a:r>
              <a:rPr b="0" i="0" dirty="0">
                <a:latin typeface="Calibr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31752" y="6537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BD4"/>
                </a:solidFill>
                <a:latin typeface="Calibri"/>
              </a:rPr>
              <a:t>5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CC667C9-31F8-E34F-5502-C4A896174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039" y="2099733"/>
            <a:ext cx="6975028" cy="39336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9476" y="1574800"/>
            <a:ext cx="1031392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Calibri"/>
              </a:rPr>
              <a:t>We are not building an ADC physically, rather we are implementing it on a FPGA board with its SAR control logic, bit decision FSM, DAC control signals and timing control all done in the FPGA.</a:t>
            </a:r>
            <a:endParaRPr lang="en-IN" sz="2000" b="0" i="0" dirty="0">
              <a:latin typeface="Calibri"/>
            </a:endParaRPr>
          </a:p>
          <a:p>
            <a:pPr algn="l"/>
            <a:endParaRPr lang="en-IN" sz="2000" b="0" i="0" dirty="0">
              <a:latin typeface="Calibri"/>
            </a:endParaRPr>
          </a:p>
          <a:p>
            <a:pPr algn="l"/>
            <a:r>
              <a:rPr lang="en-IN" sz="2000" dirty="0">
                <a:latin typeface="Calibri"/>
              </a:rPr>
              <a:t>This means that comparator will be stimulated, the DAC will be modelled digitally and our SAR logic will be Verilog design</a:t>
            </a:r>
            <a:endParaRPr sz="2000" b="0" i="0" dirty="0"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731752" y="6537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BD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27" y="-4572"/>
            <a:ext cx="12188952" cy="91440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Target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651760" cy="4206240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148840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48CAE4"/>
                </a:solidFill>
                <a:latin typeface="Calibri"/>
              </a:rPr>
              <a:t>Zynq-7000 SoC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97480"/>
            <a:ext cx="237744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0B4D8"/>
                </a:solidFill>
                <a:latin typeface="Calibri"/>
              </a:rPr>
              <a:t>▸  </a:t>
            </a:r>
            <a:r>
              <a:rPr sz="1400" dirty="0">
                <a:solidFill>
                  <a:srgbClr val="E0EAF5"/>
                </a:solidFill>
                <a:latin typeface="Calibri"/>
              </a:rPr>
              <a:t>Industry-grade</a:t>
            </a:r>
            <a:r>
              <a:rPr sz="1300" dirty="0">
                <a:solidFill>
                  <a:srgbClr val="E0EAF5"/>
                </a:solidFill>
                <a:latin typeface="Calibri"/>
              </a:rPr>
              <a:t> SoC</a:t>
            </a:r>
          </a:p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0B4D8"/>
                </a:solidFill>
                <a:latin typeface="Calibri"/>
              </a:rPr>
              <a:t>▸  </a:t>
            </a:r>
            <a:r>
              <a:rPr sz="1300" dirty="0">
                <a:solidFill>
                  <a:srgbClr val="E0EAF5"/>
                </a:solidFill>
                <a:latin typeface="Calibri"/>
              </a:rPr>
              <a:t>Dual-core ARM Cortex-A9</a:t>
            </a:r>
          </a:p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0B4D8"/>
                </a:solidFill>
                <a:latin typeface="Calibri"/>
              </a:rPr>
              <a:t>▸  </a:t>
            </a:r>
            <a:r>
              <a:rPr sz="1300" dirty="0">
                <a:solidFill>
                  <a:srgbClr val="E0EAF5"/>
                </a:solidFill>
                <a:latin typeface="Calibri"/>
              </a:rPr>
              <a:t>Reprogrammable logic fabric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1371600"/>
            <a:ext cx="2651760" cy="4206240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55848" y="2148840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48CAE4"/>
                </a:solidFill>
                <a:latin typeface="Calibri"/>
              </a:rPr>
              <a:t>XADC (Built-in ADC)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697480"/>
            <a:ext cx="237744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0B4D8"/>
                </a:solidFill>
                <a:latin typeface="Calibri"/>
              </a:rPr>
              <a:t>▸  </a:t>
            </a:r>
            <a:r>
              <a:rPr sz="1300" dirty="0">
                <a:solidFill>
                  <a:srgbClr val="E0EAF5"/>
                </a:solidFill>
                <a:latin typeface="Calibri"/>
              </a:rPr>
              <a:t>Integrated analog front end</a:t>
            </a:r>
          </a:p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0B4D8"/>
                </a:solidFill>
                <a:latin typeface="Calibri"/>
              </a:rPr>
              <a:t>▸  </a:t>
            </a:r>
            <a:r>
              <a:rPr sz="1300" dirty="0">
                <a:solidFill>
                  <a:srgbClr val="E0EAF5"/>
                </a:solidFill>
                <a:latin typeface="Calibri"/>
              </a:rPr>
              <a:t>Supports real input testing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71616" y="1371600"/>
            <a:ext cx="2651760" cy="4206240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08776" y="2148840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48CAE4"/>
                </a:solidFill>
                <a:latin typeface="Calibri"/>
              </a:rPr>
              <a:t>Programmable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2697480"/>
            <a:ext cx="237744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0B4D8"/>
                </a:solidFill>
                <a:latin typeface="Calibri"/>
              </a:rPr>
              <a:t>▸  </a:t>
            </a:r>
            <a:r>
              <a:rPr sz="1300" dirty="0">
                <a:solidFill>
                  <a:srgbClr val="E0EAF5"/>
                </a:solidFill>
                <a:latin typeface="Calibri"/>
              </a:rPr>
              <a:t>FPGA fabric for custom logic</a:t>
            </a:r>
          </a:p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0B4D8"/>
                </a:solidFill>
                <a:latin typeface="Calibri"/>
              </a:rPr>
              <a:t>▸  </a:t>
            </a:r>
            <a:r>
              <a:rPr sz="1300" dirty="0">
                <a:solidFill>
                  <a:srgbClr val="E0EAF5"/>
                </a:solidFill>
                <a:latin typeface="Calibri"/>
              </a:rPr>
              <a:t>ARM processor co-design</a:t>
            </a:r>
          </a:p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0B4D8"/>
                </a:solidFill>
                <a:latin typeface="Calibri"/>
              </a:rPr>
              <a:t>▸  </a:t>
            </a:r>
            <a:r>
              <a:rPr sz="1300" dirty="0">
                <a:solidFill>
                  <a:srgbClr val="E0EAF5"/>
                </a:solidFill>
                <a:latin typeface="Calibri"/>
              </a:rPr>
              <a:t>High-speed I</a:t>
            </a:r>
            <a:r>
              <a:rPr lang="en-IN" sz="1300" dirty="0">
                <a:solidFill>
                  <a:srgbClr val="E0EAF5"/>
                </a:solidFill>
                <a:latin typeface="Calibri"/>
              </a:rPr>
              <a:t>/</a:t>
            </a:r>
            <a:r>
              <a:rPr sz="1300" dirty="0">
                <a:solidFill>
                  <a:srgbClr val="E0EAF5"/>
                </a:solidFill>
                <a:latin typeface="Calibri"/>
              </a:rPr>
              <a:t>O support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1371600"/>
            <a:ext cx="2651760" cy="4206240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61704" y="2148840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48CAE4"/>
                </a:solidFill>
                <a:latin typeface="Calibri"/>
              </a:rPr>
              <a:t>Verilog HDL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1704" y="2697480"/>
            <a:ext cx="237744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0B4D8"/>
                </a:solidFill>
                <a:latin typeface="Calibri"/>
              </a:rPr>
              <a:t>▸  </a:t>
            </a:r>
            <a:r>
              <a:rPr sz="1300" dirty="0">
                <a:solidFill>
                  <a:srgbClr val="E0EAF5"/>
                </a:solidFill>
                <a:latin typeface="Calibri"/>
              </a:rPr>
              <a:t>Hardware description language</a:t>
            </a:r>
          </a:p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0B4D8"/>
                </a:solidFill>
                <a:latin typeface="Calibri"/>
              </a:rPr>
              <a:t>▸  </a:t>
            </a:r>
            <a:r>
              <a:rPr sz="1300" dirty="0">
                <a:solidFill>
                  <a:srgbClr val="E0EAF5"/>
                </a:solidFill>
                <a:latin typeface="Calibri"/>
              </a:rPr>
              <a:t>Synchronous design style</a:t>
            </a:r>
          </a:p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0B4D8"/>
                </a:solidFill>
                <a:latin typeface="Calibri"/>
              </a:rPr>
              <a:t>▸  </a:t>
            </a:r>
            <a:r>
              <a:rPr sz="1300" dirty="0">
                <a:solidFill>
                  <a:srgbClr val="E0EAF5"/>
                </a:solidFill>
                <a:latin typeface="Calibri"/>
              </a:rPr>
              <a:t>Viv</a:t>
            </a:r>
            <a:r>
              <a:rPr lang="en-IN" sz="1300" dirty="0">
                <a:solidFill>
                  <a:srgbClr val="E0EAF5"/>
                </a:solidFill>
                <a:latin typeface="Calibri"/>
              </a:rPr>
              <a:t>ado</a:t>
            </a:r>
            <a:r>
              <a:rPr sz="1300" dirty="0">
                <a:solidFill>
                  <a:srgbClr val="E0EAF5"/>
                </a:solidFill>
                <a:latin typeface="Calibri"/>
              </a:rPr>
              <a:t> synthesis 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31752" y="6537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BD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1440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Implementation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73152"/>
            <a:ext cx="54864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5489" y="1194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latin typeface="Calibri"/>
              </a:rPr>
              <a:t>The SAR ADC digital logic is implemented on FPGA using Verilog HDL. The design follows a modular architecture consisting of: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13957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latin typeface="+mj-lt"/>
              </a:rPr>
              <a:t>SAR Controller</a:t>
            </a:r>
            <a:r>
              <a:rPr lang="en-IN" b="1" i="0" dirty="0">
                <a:latin typeface="+mj-lt"/>
              </a:rPr>
              <a:t> - </a:t>
            </a:r>
            <a:r>
              <a:rPr lang="en-IN" i="0" dirty="0">
                <a:latin typeface="+mj-lt"/>
              </a:rPr>
              <a:t>FSM based sequencing and control</a:t>
            </a:r>
            <a:endParaRPr b="1" i="0" dirty="0"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9749" y="2113957"/>
            <a:ext cx="41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0D1B2A"/>
                </a:solidFill>
                <a:latin typeface="Calibri"/>
              </a:rPr>
              <a:t>1</a:t>
            </a:r>
            <a:r>
              <a:rPr lang="en-IN" sz="1600" b="1" i="0" dirty="0">
                <a:solidFill>
                  <a:srgbClr val="0D1B2A"/>
                </a:solidFill>
                <a:latin typeface="Calibri"/>
              </a:rPr>
              <a:t>.</a:t>
            </a:r>
            <a:endParaRPr sz="1600" b="1" i="0" dirty="0">
              <a:solidFill>
                <a:srgbClr val="0D1B2A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6911" y="4698097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v"/>
            </a:pPr>
            <a:r>
              <a:rPr b="1" i="1" dirty="0">
                <a:solidFill>
                  <a:srgbClr val="FF0000"/>
                </a:solidFill>
                <a:latin typeface="Calibri"/>
              </a:rPr>
              <a:t>The conversion process is performed iteratively using a binary search algorithm</a:t>
            </a:r>
            <a:r>
              <a:rPr sz="1300" b="1" i="1" dirty="0">
                <a:solidFill>
                  <a:srgbClr val="F7C548"/>
                </a:solidFill>
                <a:latin typeface="Calibri"/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31752" y="6537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BD4"/>
                </a:solidFill>
                <a:latin typeface="Calibri"/>
              </a:rPr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1B5A6A-F68C-352C-3C02-EF1306591A4E}"/>
              </a:ext>
            </a:extLst>
          </p:cNvPr>
          <p:cNvSpPr txBox="1"/>
          <p:nvPr/>
        </p:nvSpPr>
        <p:spPr>
          <a:xfrm>
            <a:off x="459025" y="2610052"/>
            <a:ext cx="5319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2.  SAR Register </a:t>
            </a:r>
            <a:r>
              <a:rPr lang="en-IN" dirty="0"/>
              <a:t>– Bit by bit storage of converted result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FCC689-02C9-791E-7FDA-F5E493E98971}"/>
              </a:ext>
            </a:extLst>
          </p:cNvPr>
          <p:cNvSpPr txBox="1"/>
          <p:nvPr/>
        </p:nvSpPr>
        <p:spPr>
          <a:xfrm>
            <a:off x="495808" y="3108082"/>
            <a:ext cx="3564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3</a:t>
            </a:r>
            <a:r>
              <a:rPr lang="en-IN" dirty="0"/>
              <a:t>. </a:t>
            </a:r>
            <a:r>
              <a:rPr lang="en-IN" b="1" dirty="0"/>
              <a:t>Comparator logic -</a:t>
            </a:r>
            <a:r>
              <a:rPr lang="en-IN" dirty="0"/>
              <a:t> digital model </a:t>
            </a:r>
          </a:p>
          <a:p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682AA0-2A75-145B-E6F2-DBA7D400D0E1}"/>
              </a:ext>
            </a:extLst>
          </p:cNvPr>
          <p:cNvSpPr txBox="1"/>
          <p:nvPr/>
        </p:nvSpPr>
        <p:spPr>
          <a:xfrm>
            <a:off x="495808" y="3568120"/>
            <a:ext cx="5374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4</a:t>
            </a:r>
            <a:r>
              <a:rPr lang="en-IN" dirty="0"/>
              <a:t>. </a:t>
            </a:r>
            <a:r>
              <a:rPr lang="en-IN" b="1" dirty="0"/>
              <a:t>DAC Model </a:t>
            </a:r>
            <a:r>
              <a:rPr lang="en-IN" dirty="0"/>
              <a:t>– digital approximation of voltage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7533" y="5031313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sz="2000" b="1" i="1" dirty="0">
                <a:solidFill>
                  <a:srgbClr val="FF0000"/>
                </a:solidFill>
                <a:latin typeface="Calibri"/>
              </a:rPr>
              <a:t>The controller updates one bit per clock cycle.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31752" y="6537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BD4"/>
                </a:solidFill>
                <a:latin typeface="Calibri"/>
              </a:rPr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6AAB16-5502-BCB0-16C7-1C4A42AD3F7A}"/>
              </a:ext>
            </a:extLst>
          </p:cNvPr>
          <p:cNvSpPr txBox="1"/>
          <p:nvPr/>
        </p:nvSpPr>
        <p:spPr>
          <a:xfrm>
            <a:off x="1083733" y="1674550"/>
            <a:ext cx="6511398" cy="3141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dirty="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lang="en-IN" sz="2000" spc="-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sz="2000" dirty="0">
                <a:solidFill>
                  <a:srgbClr val="0D0D0D"/>
                </a:solidFill>
                <a:latin typeface="Arial MT"/>
                <a:cs typeface="Arial MT"/>
              </a:rPr>
              <a:t>system</a:t>
            </a:r>
            <a:r>
              <a:rPr lang="en-IN" sz="2000" spc="-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sz="2000" dirty="0">
                <a:solidFill>
                  <a:srgbClr val="0D0D0D"/>
                </a:solidFill>
                <a:latin typeface="Arial MT"/>
                <a:cs typeface="Arial MT"/>
              </a:rPr>
              <a:t>consists</a:t>
            </a:r>
            <a:r>
              <a:rPr lang="en-IN" sz="2000" spc="-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sz="2000" dirty="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lang="en-IN" sz="2000" spc="-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sz="2000" dirty="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lang="en-IN" sz="2000" spc="-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sz="2000" spc="-10" dirty="0">
                <a:solidFill>
                  <a:srgbClr val="0D0D0D"/>
                </a:solidFill>
                <a:latin typeface="Arial MT"/>
                <a:cs typeface="Arial MT"/>
              </a:rPr>
              <a:t>following</a:t>
            </a:r>
            <a:r>
              <a:rPr lang="en-IN" sz="2000" spc="-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sz="2000" spc="-10" dirty="0">
                <a:solidFill>
                  <a:srgbClr val="0D0D0D"/>
                </a:solidFill>
                <a:latin typeface="Arial MT"/>
                <a:cs typeface="Arial MT"/>
              </a:rPr>
              <a:t>blocks:</a:t>
            </a:r>
            <a:endParaRPr lang="en-IN"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lang="en-IN" sz="2000" dirty="0">
              <a:latin typeface="Arial MT"/>
              <a:cs typeface="Arial MT"/>
            </a:endParaRPr>
          </a:p>
          <a:p>
            <a:pPr marL="329565" indent="-31242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SzPct val="104761"/>
              <a:buChar char="●"/>
              <a:tabLst>
                <a:tab pos="329565" algn="l"/>
              </a:tabLst>
            </a:pPr>
            <a:r>
              <a:rPr lang="en-IN" b="1" dirty="0">
                <a:solidFill>
                  <a:srgbClr val="0D0D0D"/>
                </a:solidFill>
                <a:latin typeface="Arial MT"/>
                <a:cs typeface="Arial MT"/>
              </a:rPr>
              <a:t>SAR</a:t>
            </a:r>
            <a:r>
              <a:rPr lang="en-IN" b="1" spc="-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b="1" spc="-10" dirty="0">
                <a:solidFill>
                  <a:srgbClr val="0D0D0D"/>
                </a:solidFill>
                <a:latin typeface="Arial MT"/>
                <a:cs typeface="Arial MT"/>
              </a:rPr>
              <a:t>Controller:</a:t>
            </a:r>
            <a:r>
              <a:rPr lang="en-IN" spc="-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dirty="0">
                <a:solidFill>
                  <a:srgbClr val="0D0D0D"/>
                </a:solidFill>
                <a:latin typeface="Arial MT"/>
                <a:cs typeface="Arial MT"/>
              </a:rPr>
              <a:t>Controls</a:t>
            </a:r>
            <a:r>
              <a:rPr lang="en-IN" spc="-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spc="-10" dirty="0">
                <a:solidFill>
                  <a:srgbClr val="0D0D0D"/>
                </a:solidFill>
                <a:latin typeface="Arial MT"/>
                <a:cs typeface="Arial MT"/>
              </a:rPr>
              <a:t>conversion</a:t>
            </a:r>
            <a:r>
              <a:rPr lang="en-IN" spc="-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spc="-10" dirty="0">
                <a:solidFill>
                  <a:srgbClr val="0D0D0D"/>
                </a:solidFill>
                <a:latin typeface="Arial MT"/>
                <a:cs typeface="Arial MT"/>
              </a:rPr>
              <a:t>sequence</a:t>
            </a:r>
            <a:endParaRPr lang="en-IN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5"/>
              </a:spcBef>
              <a:buFont typeface="Arial MT"/>
              <a:buChar char="●"/>
            </a:pPr>
            <a:endParaRPr lang="en-IN" dirty="0">
              <a:latin typeface="Arial MT"/>
              <a:cs typeface="Arial MT"/>
            </a:endParaRPr>
          </a:p>
          <a:p>
            <a:pPr marL="329565" indent="-31242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SzPct val="104761"/>
              <a:buChar char="●"/>
              <a:tabLst>
                <a:tab pos="329565" algn="l"/>
              </a:tabLst>
            </a:pPr>
            <a:r>
              <a:rPr lang="en-IN" b="1" dirty="0">
                <a:solidFill>
                  <a:srgbClr val="0D0D0D"/>
                </a:solidFill>
                <a:latin typeface="Arial MT"/>
                <a:cs typeface="Arial MT"/>
              </a:rPr>
              <a:t>SAR</a:t>
            </a:r>
            <a:r>
              <a:rPr lang="en-IN" b="1" spc="-3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b="1" spc="-10" dirty="0">
                <a:solidFill>
                  <a:srgbClr val="0D0D0D"/>
                </a:solidFill>
                <a:latin typeface="Arial MT"/>
                <a:cs typeface="Arial MT"/>
              </a:rPr>
              <a:t>Register:</a:t>
            </a:r>
            <a:r>
              <a:rPr lang="en-IN" spc="-3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dirty="0">
                <a:solidFill>
                  <a:srgbClr val="0D0D0D"/>
                </a:solidFill>
                <a:latin typeface="Arial MT"/>
                <a:cs typeface="Arial MT"/>
              </a:rPr>
              <a:t>Stores</a:t>
            </a:r>
            <a:r>
              <a:rPr lang="en-IN" spc="-3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spc="-10" dirty="0">
                <a:solidFill>
                  <a:srgbClr val="0D0D0D"/>
                </a:solidFill>
                <a:latin typeface="Arial MT"/>
                <a:cs typeface="Arial MT"/>
              </a:rPr>
              <a:t>intermediate</a:t>
            </a:r>
            <a:r>
              <a:rPr lang="en-IN" spc="-3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dirty="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lang="en-IN" spc="-3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dirty="0">
                <a:solidFill>
                  <a:srgbClr val="0D0D0D"/>
                </a:solidFill>
                <a:latin typeface="Arial MT"/>
                <a:cs typeface="Arial MT"/>
              </a:rPr>
              <a:t>final</a:t>
            </a:r>
            <a:r>
              <a:rPr lang="en-IN" spc="-3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dirty="0">
                <a:solidFill>
                  <a:srgbClr val="0D0D0D"/>
                </a:solidFill>
                <a:latin typeface="Arial MT"/>
                <a:cs typeface="Arial MT"/>
              </a:rPr>
              <a:t>digital</a:t>
            </a:r>
            <a:r>
              <a:rPr lang="en-IN" spc="-3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spc="-10" dirty="0">
                <a:solidFill>
                  <a:srgbClr val="0D0D0D"/>
                </a:solidFill>
                <a:latin typeface="Arial MT"/>
                <a:cs typeface="Arial MT"/>
              </a:rPr>
              <a:t>output</a:t>
            </a:r>
            <a:endParaRPr lang="en-IN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5"/>
              </a:spcBef>
              <a:buFont typeface="Arial MT"/>
              <a:buChar char="●"/>
            </a:pPr>
            <a:endParaRPr lang="en-IN" dirty="0">
              <a:latin typeface="Arial MT"/>
              <a:cs typeface="Arial MT"/>
            </a:endParaRPr>
          </a:p>
          <a:p>
            <a:pPr marL="329565" indent="-312420">
              <a:lnSpc>
                <a:spcPct val="100000"/>
              </a:lnSpc>
              <a:buClr>
                <a:srgbClr val="000000"/>
              </a:buClr>
              <a:buSzPct val="104761"/>
              <a:buChar char="●"/>
              <a:tabLst>
                <a:tab pos="329565" algn="l"/>
              </a:tabLst>
            </a:pPr>
            <a:r>
              <a:rPr lang="en-IN" b="1" dirty="0">
                <a:solidFill>
                  <a:srgbClr val="0D0D0D"/>
                </a:solidFill>
                <a:latin typeface="Arial MT"/>
                <a:cs typeface="Arial MT"/>
              </a:rPr>
              <a:t>DAC</a:t>
            </a:r>
            <a:r>
              <a:rPr lang="en-IN" b="1" spc="-4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b="1" dirty="0">
                <a:solidFill>
                  <a:srgbClr val="0D0D0D"/>
                </a:solidFill>
                <a:latin typeface="Arial MT"/>
                <a:cs typeface="Arial MT"/>
              </a:rPr>
              <a:t>Model:</a:t>
            </a:r>
            <a:r>
              <a:rPr lang="en-IN" b="1" spc="-4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dirty="0">
                <a:solidFill>
                  <a:srgbClr val="0D0D0D"/>
                </a:solidFill>
                <a:latin typeface="Arial MT"/>
                <a:cs typeface="Arial MT"/>
              </a:rPr>
              <a:t>Generates</a:t>
            </a:r>
            <a:r>
              <a:rPr lang="en-IN" spc="-4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spc="-10" dirty="0">
                <a:solidFill>
                  <a:srgbClr val="0D0D0D"/>
                </a:solidFill>
                <a:latin typeface="Arial MT"/>
                <a:cs typeface="Arial MT"/>
              </a:rPr>
              <a:t>reference</a:t>
            </a:r>
            <a:r>
              <a:rPr lang="en-IN" spc="-4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dirty="0">
                <a:solidFill>
                  <a:srgbClr val="0D0D0D"/>
                </a:solidFill>
                <a:latin typeface="Arial MT"/>
                <a:cs typeface="Arial MT"/>
              </a:rPr>
              <a:t>voltage</a:t>
            </a:r>
            <a:r>
              <a:rPr lang="en-IN" spc="-4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dirty="0">
                <a:solidFill>
                  <a:srgbClr val="0D0D0D"/>
                </a:solidFill>
                <a:latin typeface="Arial MT"/>
                <a:cs typeface="Arial MT"/>
              </a:rPr>
              <a:t>from</a:t>
            </a:r>
            <a:r>
              <a:rPr lang="en-IN" spc="-4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dirty="0">
                <a:solidFill>
                  <a:srgbClr val="0D0D0D"/>
                </a:solidFill>
                <a:latin typeface="Arial MT"/>
                <a:cs typeface="Arial MT"/>
              </a:rPr>
              <a:t>digital</a:t>
            </a:r>
            <a:r>
              <a:rPr lang="en-IN" spc="-4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spc="-20" dirty="0">
                <a:solidFill>
                  <a:srgbClr val="0D0D0D"/>
                </a:solidFill>
                <a:latin typeface="Arial MT"/>
                <a:cs typeface="Arial MT"/>
              </a:rPr>
              <a:t>code</a:t>
            </a:r>
            <a:endParaRPr lang="en-IN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Font typeface="Arial MT"/>
              <a:buChar char="●"/>
            </a:pPr>
            <a:endParaRPr lang="en-IN" dirty="0">
              <a:latin typeface="Arial MT"/>
              <a:cs typeface="Arial MT"/>
            </a:endParaRPr>
          </a:p>
          <a:p>
            <a:pPr marL="329565" indent="-312420">
              <a:lnSpc>
                <a:spcPct val="100000"/>
              </a:lnSpc>
              <a:buClr>
                <a:srgbClr val="000000"/>
              </a:buClr>
              <a:buSzPct val="104761"/>
              <a:buChar char="●"/>
              <a:tabLst>
                <a:tab pos="329565" algn="l"/>
              </a:tabLst>
            </a:pPr>
            <a:r>
              <a:rPr lang="en-IN" b="1" spc="-10" dirty="0">
                <a:solidFill>
                  <a:srgbClr val="0D0D0D"/>
                </a:solidFill>
                <a:latin typeface="Arial MT"/>
                <a:cs typeface="Arial MT"/>
              </a:rPr>
              <a:t>Comparator:</a:t>
            </a:r>
            <a:r>
              <a:rPr lang="en-IN" spc="-4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dirty="0">
                <a:solidFill>
                  <a:srgbClr val="0D0D0D"/>
                </a:solidFill>
                <a:latin typeface="Arial MT"/>
                <a:cs typeface="Arial MT"/>
              </a:rPr>
              <a:t>Compares</a:t>
            </a:r>
            <a:r>
              <a:rPr lang="en-IN" spc="-3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dirty="0">
                <a:solidFill>
                  <a:srgbClr val="0D0D0D"/>
                </a:solidFill>
                <a:latin typeface="Arial MT"/>
                <a:cs typeface="Arial MT"/>
              </a:rPr>
              <a:t>input</a:t>
            </a:r>
            <a:r>
              <a:rPr lang="en-IN" spc="-3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dirty="0">
                <a:solidFill>
                  <a:srgbClr val="0D0D0D"/>
                </a:solidFill>
                <a:latin typeface="Arial MT"/>
                <a:cs typeface="Arial MT"/>
              </a:rPr>
              <a:t>with</a:t>
            </a:r>
            <a:r>
              <a:rPr lang="en-IN" spc="-3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dirty="0">
                <a:solidFill>
                  <a:srgbClr val="0D0D0D"/>
                </a:solidFill>
                <a:latin typeface="Arial MT"/>
                <a:cs typeface="Arial MT"/>
              </a:rPr>
              <a:t>DAC</a:t>
            </a:r>
            <a:r>
              <a:rPr lang="en-IN" spc="-4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IN" spc="-10" dirty="0">
                <a:solidFill>
                  <a:srgbClr val="0D0D0D"/>
                </a:solidFill>
                <a:latin typeface="Arial MT"/>
                <a:cs typeface="Arial MT"/>
              </a:rPr>
              <a:t>output</a:t>
            </a:r>
            <a:endParaRPr lang="en-IN" dirty="0">
              <a:latin typeface="Arial MT"/>
              <a:cs typeface="Arial MT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-13716"/>
            <a:ext cx="12188952" cy="91440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Successive Approximation Algorithm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latin typeface="Calibri"/>
              </a:rPr>
              <a:t>The SAR ADC performs conversion using a binary search approach</a:t>
            </a:r>
            <a:r>
              <a:rPr sz="1400" b="0" i="0" dirty="0">
                <a:solidFill>
                  <a:srgbClr val="E0EAF5"/>
                </a:solidFill>
                <a:latin typeface="Calibri"/>
              </a:rPr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96183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latin typeface="Calibri"/>
              </a:rPr>
              <a:t>Set MSB to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603807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latin typeface="Calibri"/>
              </a:rPr>
              <a:t>C</a:t>
            </a:r>
            <a:r>
              <a:rPr lang="en-IN" b="1" i="0" dirty="0">
                <a:latin typeface="Calibri"/>
              </a:rPr>
              <a:t>o</a:t>
            </a:r>
            <a:r>
              <a:rPr b="1" i="0" dirty="0" err="1">
                <a:latin typeface="Calibri"/>
              </a:rPr>
              <a:t>mpare</a:t>
            </a:r>
            <a:r>
              <a:rPr b="1" i="0" dirty="0">
                <a:latin typeface="Calibri"/>
              </a:rPr>
              <a:t> input with DAC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257266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latin typeface="Calibri"/>
              </a:rPr>
              <a:t>Keep or reset bit based on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899243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latin typeface="Calibri"/>
              </a:rPr>
              <a:t>Move to next bit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54122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latin typeface="Calibri"/>
              </a:rPr>
              <a:t>Repeat until LSB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79207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sz="1600" b="1" i="0" dirty="0">
                <a:solidFill>
                  <a:srgbClr val="FF0000"/>
                </a:solidFill>
                <a:latin typeface="Calibri"/>
              </a:rPr>
              <a:t>Total conversion time = N clock cycles  (for N-bit ADC)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31752" y="6537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BD4"/>
                </a:solidFill>
                <a:latin typeface="Calibri"/>
              </a:rPr>
              <a:t>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F79D03-B5A4-3A05-51FC-7E12BED63EF6}"/>
              </a:ext>
            </a:extLst>
          </p:cNvPr>
          <p:cNvSpPr txBox="1"/>
          <p:nvPr/>
        </p:nvSpPr>
        <p:spPr>
          <a:xfrm>
            <a:off x="922866" y="1953714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F91A82-A6EB-A5DB-FA55-79E7586F26D6}"/>
              </a:ext>
            </a:extLst>
          </p:cNvPr>
          <p:cNvSpPr txBox="1"/>
          <p:nvPr/>
        </p:nvSpPr>
        <p:spPr>
          <a:xfrm>
            <a:off x="922866" y="2615514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47A7F5-FBC1-70EB-A190-C3FAE4113EAF}"/>
              </a:ext>
            </a:extLst>
          </p:cNvPr>
          <p:cNvSpPr txBox="1"/>
          <p:nvPr/>
        </p:nvSpPr>
        <p:spPr>
          <a:xfrm>
            <a:off x="922866" y="3251425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F9327-C3E4-89ED-16ED-706A270070EA}"/>
              </a:ext>
            </a:extLst>
          </p:cNvPr>
          <p:cNvSpPr txBox="1"/>
          <p:nvPr/>
        </p:nvSpPr>
        <p:spPr>
          <a:xfrm>
            <a:off x="922866" y="389489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7CED41-529D-8FF0-AAA7-F0BE456DA496}"/>
              </a:ext>
            </a:extLst>
          </p:cNvPr>
          <p:cNvSpPr txBox="1"/>
          <p:nvPr/>
        </p:nvSpPr>
        <p:spPr>
          <a:xfrm>
            <a:off x="922866" y="4532514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1440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FSM-Based Control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73152"/>
            <a:ext cx="54864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226409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Calibri"/>
              </a:rPr>
              <a:t>The SAR logic is implemented as a finite state machine with the following states: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029200" cy="822960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128016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0299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0D1B2A"/>
                </a:solidFill>
                <a:latin typeface="Calibri"/>
              </a:rPr>
              <a:t>IDLE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029968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E0EAF5"/>
                </a:solidFill>
                <a:latin typeface="Calibri"/>
              </a:rPr>
              <a:t>Wait for start signal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5029200" cy="822960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128016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0358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0D1B2A"/>
                </a:solidFill>
                <a:latin typeface="Calibri"/>
              </a:rPr>
              <a:t>SAMPLE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035808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i="0" dirty="0">
                <a:solidFill>
                  <a:srgbClr val="E0EAF5"/>
                </a:solidFill>
                <a:latin typeface="Calibri"/>
              </a:rPr>
              <a:t>Capture input</a:t>
            </a:r>
            <a:endParaRPr sz="1400" b="0" i="0" dirty="0">
              <a:solidFill>
                <a:srgbClr val="E0EAF5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5029200" cy="822960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128016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0D1B2A"/>
                </a:solidFill>
                <a:latin typeface="Calibri"/>
              </a:rPr>
              <a:t>SET_BIT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041648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E0EAF5"/>
                </a:solidFill>
                <a:latin typeface="Calibri"/>
              </a:rPr>
              <a:t>Set current bit to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46320"/>
            <a:ext cx="5029200" cy="822960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128016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504748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0D1B2A"/>
                </a:solidFill>
                <a:latin typeface="Calibri"/>
              </a:rPr>
              <a:t>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047488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E0EAF5"/>
                </a:solidFill>
                <a:latin typeface="Calibri"/>
              </a:rPr>
              <a:t>Perform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828800"/>
            <a:ext cx="5303520" cy="822960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1828800"/>
            <a:ext cx="1371600" cy="82296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20299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0D1B2A"/>
                </a:solidFill>
                <a:latin typeface="Calibri"/>
              </a:rPr>
              <a:t>UPDATE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20299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AF5"/>
                </a:solidFill>
                <a:latin typeface="Calibri"/>
              </a:rPr>
              <a:t>Modify bit value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834640"/>
            <a:ext cx="5303520" cy="822960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0" y="2834640"/>
            <a:ext cx="1371600" cy="82296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30358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0D1B2A"/>
                </a:solidFill>
                <a:latin typeface="Calibri"/>
              </a:rPr>
              <a:t>NEXT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303580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AF5"/>
                </a:solidFill>
                <a:latin typeface="Calibri"/>
              </a:rPr>
              <a:t>Move to next bit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840480"/>
            <a:ext cx="5303520" cy="822960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3840480"/>
            <a:ext cx="1371600" cy="82296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404164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0D1B2A"/>
                </a:solidFill>
                <a:latin typeface="Calibri"/>
              </a:rPr>
              <a:t>DONE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404164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AF5"/>
                </a:solidFill>
                <a:latin typeface="Calibri"/>
              </a:rPr>
              <a:t>Output final result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31752" y="6537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BD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901"/>
            <a:ext cx="12188952" cy="91440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Verilog </a:t>
            </a:r>
            <a:r>
              <a:rPr sz="3000" b="1" i="0" dirty="0" err="1">
                <a:solidFill>
                  <a:srgbClr val="FFFFFF"/>
                </a:solidFill>
                <a:latin typeface="Calibri"/>
              </a:rPr>
              <a:t>Implementa</a:t>
            </a:r>
            <a:r>
              <a:rPr lang="en-IN" sz="3000" b="1" dirty="0" err="1">
                <a:solidFill>
                  <a:srgbClr val="FFFFFF"/>
                </a:solidFill>
                <a:latin typeface="Calibri"/>
              </a:rPr>
              <a:t>tion</a:t>
            </a:r>
            <a:endParaRPr sz="3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220830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latin typeface="Calibri"/>
              </a:rPr>
              <a:t>The SAR controller is implemented using synchronous Verilog design: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solidFill>
            <a:srgbClr val="16263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73152" cy="914400"/>
          </a:xfrm>
          <a:prstGeom prst="rect">
            <a:avLst/>
          </a:prstGeom>
          <a:solidFill>
            <a:srgbClr val="F7C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105" y="2083283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48CAE4"/>
                </a:solidFill>
                <a:latin typeface="Calibri"/>
              </a:rPr>
              <a:t>Clock-driven sequential logic</a:t>
            </a:r>
            <a:r>
              <a:rPr lang="en-IN" sz="1600" b="1" i="0" dirty="0">
                <a:solidFill>
                  <a:srgbClr val="48CAE4"/>
                </a:solidFill>
                <a:latin typeface="Calibri"/>
              </a:rPr>
              <a:t> </a:t>
            </a:r>
            <a:endParaRPr sz="1600" b="1" i="0" dirty="0">
              <a:solidFill>
                <a:srgbClr val="48CAE4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11247120" cy="914400"/>
          </a:xfrm>
          <a:prstGeom prst="rect">
            <a:avLst/>
          </a:prstGeom>
          <a:solidFill>
            <a:srgbClr val="16263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880360"/>
            <a:ext cx="73152" cy="914400"/>
          </a:xfrm>
          <a:prstGeom prst="rect">
            <a:avLst/>
          </a:prstGeom>
          <a:solidFill>
            <a:srgbClr val="F7C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105" y="314687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48CAE4"/>
                </a:solidFill>
                <a:latin typeface="Calibri"/>
              </a:rPr>
              <a:t>Bit-by-bit update</a:t>
            </a:r>
            <a:r>
              <a:rPr lang="en-IN" sz="1600" b="1" i="0" dirty="0">
                <a:solidFill>
                  <a:srgbClr val="48CAE4"/>
                </a:solidFill>
                <a:latin typeface="Calibri"/>
              </a:rPr>
              <a:t> using shift/index control</a:t>
            </a:r>
            <a:endParaRPr sz="1600" b="1" i="0" dirty="0">
              <a:solidFill>
                <a:srgbClr val="48CAE4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11247120" cy="914400"/>
          </a:xfrm>
          <a:prstGeom prst="rect">
            <a:avLst/>
          </a:prstGeom>
          <a:solidFill>
            <a:srgbClr val="16263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73152" cy="914400"/>
          </a:xfrm>
          <a:prstGeom prst="rect">
            <a:avLst/>
          </a:prstGeom>
          <a:solidFill>
            <a:srgbClr val="F7C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105" y="418148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1" dirty="0">
                <a:solidFill>
                  <a:srgbClr val="48CAE4"/>
                </a:solidFill>
                <a:latin typeface="Calibri"/>
              </a:rPr>
              <a:t>C</a:t>
            </a:r>
            <a:r>
              <a:rPr lang="en-IN" sz="1600" b="1" i="0" dirty="0">
                <a:solidFill>
                  <a:srgbClr val="48CAE4"/>
                </a:solidFill>
                <a:latin typeface="Calibri"/>
              </a:rPr>
              <a:t>o</a:t>
            </a:r>
            <a:r>
              <a:rPr sz="1600" b="1" i="0" dirty="0" err="1">
                <a:solidFill>
                  <a:srgbClr val="48CAE4"/>
                </a:solidFill>
                <a:latin typeface="Calibri"/>
              </a:rPr>
              <a:t>mparator</a:t>
            </a:r>
            <a:r>
              <a:rPr lang="en-IN" sz="1600" b="1" i="0" dirty="0">
                <a:solidFill>
                  <a:srgbClr val="48CAE4"/>
                </a:solidFill>
                <a:latin typeface="Calibri"/>
              </a:rPr>
              <a:t> implemented using digital comparison</a:t>
            </a:r>
            <a:endParaRPr sz="1600" b="1" i="0" dirty="0">
              <a:solidFill>
                <a:srgbClr val="48CAE4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4983480"/>
            <a:ext cx="11247120" cy="914400"/>
          </a:xfrm>
          <a:prstGeom prst="rect">
            <a:avLst/>
          </a:prstGeom>
          <a:solidFill>
            <a:srgbClr val="16263B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983480"/>
            <a:ext cx="73152" cy="914400"/>
          </a:xfrm>
          <a:prstGeom prst="rect">
            <a:avLst/>
          </a:prstGeom>
          <a:solidFill>
            <a:srgbClr val="F7C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266944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48CAE4"/>
                </a:solidFill>
                <a:latin typeface="Calibri"/>
              </a:rPr>
              <a:t>DAC Model</a:t>
            </a:r>
            <a:r>
              <a:rPr lang="en-IN" sz="1600" b="1" i="0" dirty="0">
                <a:solidFill>
                  <a:srgbClr val="48CAE4"/>
                </a:solidFill>
                <a:latin typeface="Calibri"/>
              </a:rPr>
              <a:t>ed as scaled digital value</a:t>
            </a:r>
            <a:endParaRPr sz="1600" b="1" i="0" dirty="0">
              <a:solidFill>
                <a:srgbClr val="48CAE4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6080760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b="1" i="1" dirty="0">
                <a:solidFill>
                  <a:srgbClr val="FF0000"/>
                </a:solidFill>
                <a:latin typeface="Calibri"/>
              </a:rPr>
              <a:t>The design ensures deterministic timing and hardware efficiency.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31752" y="6537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BD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1440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FPGA Implementation &amp;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73152"/>
            <a:ext cx="54864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287518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latin typeface="Calibri"/>
              </a:rPr>
              <a:t>The design is synthesized and implemented using </a:t>
            </a:r>
            <a:r>
              <a:rPr b="1" i="0" dirty="0" err="1">
                <a:latin typeface="Calibri"/>
              </a:rPr>
              <a:t>Vivado</a:t>
            </a:r>
            <a:r>
              <a:rPr b="1" i="0" dirty="0">
                <a:latin typeface="Calibri"/>
              </a:rPr>
              <a:t> on the PYNQ-Z2 FPGA. Simulation is performed to verify: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5486400" cy="1280160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176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  <a:latin typeface="Calibri"/>
              </a:rPr>
              <a:t>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488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8CAE4"/>
                </a:solidFill>
                <a:latin typeface="Calibri"/>
              </a:rPr>
              <a:t>Bit-by-bit Convergence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0604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A8BBD4"/>
                </a:solidFill>
                <a:latin typeface="Calibri"/>
              </a:rPr>
              <a:t>Each bit is resolved correctly in sequence, from MSB to LSB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011680"/>
            <a:ext cx="5486400" cy="1280160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2176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  <a:latin typeface="Calibri"/>
              </a:rPr>
              <a:t>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1488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8CAE4"/>
                </a:solidFill>
                <a:latin typeface="Calibri"/>
              </a:rPr>
              <a:t>Correct Final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0604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A8BBD4"/>
                </a:solidFill>
                <a:latin typeface="Calibri"/>
              </a:rPr>
              <a:t>Digital output matches expected value for given analog input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20440"/>
            <a:ext cx="5486400" cy="1280160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6850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  <a:latin typeface="Calibri"/>
              </a:rPr>
              <a:t>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65760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8CAE4"/>
                </a:solidFill>
                <a:latin typeface="Calibri"/>
              </a:rPr>
              <a:t>Timing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11480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A8BBD4"/>
                </a:solidFill>
                <a:latin typeface="Calibri"/>
              </a:rPr>
              <a:t>Conversion completes in exactly N clock cycles per sample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31752" y="6537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BD4"/>
                </a:solidFill>
                <a:latin typeface="Calibri"/>
              </a:rPr>
              <a:t>13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A023C1-06BE-8C9F-D19B-1CE87400CC07}"/>
              </a:ext>
            </a:extLst>
          </p:cNvPr>
          <p:cNvSpPr txBox="1"/>
          <p:nvPr/>
        </p:nvSpPr>
        <p:spPr>
          <a:xfrm>
            <a:off x="777240" y="5370427"/>
            <a:ext cx="65565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rgbClr val="FF0000"/>
                </a:solidFill>
              </a:rPr>
              <a:t>Optional integration with XADC allows real input testing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27" y="14502"/>
            <a:ext cx="12188952" cy="91440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Motiv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e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&amp;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9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194078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latin typeface="Calibri"/>
              </a:rPr>
              <a:t>SAR ADC is widely used in: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83280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dirty="0">
                <a:latin typeface="Calibri"/>
              </a:rPr>
              <a:t>      </a:t>
            </a:r>
            <a:r>
              <a:rPr sz="2000" b="1" i="0" dirty="0">
                <a:latin typeface="Calibri"/>
              </a:rPr>
              <a:t>FPGA implementation allows: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999" y="401199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sz="1600" i="0" dirty="0">
                <a:latin typeface="Calibri"/>
              </a:rPr>
              <a:t>Flexibility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999" y="460879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sz="1600" i="0" dirty="0">
                <a:latin typeface="Calibri"/>
              </a:rPr>
              <a:t>Prototyping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999" y="5128689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sz="1600" i="0" dirty="0">
                <a:latin typeface="Calibri"/>
              </a:rPr>
              <a:t>Hardware Acceleration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31752" y="6537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BD4"/>
                </a:solidFill>
                <a:latin typeface="Calibri"/>
              </a:rPr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2E1DF8-0F45-3CBA-D72D-8E1A22A754A9}"/>
              </a:ext>
            </a:extLst>
          </p:cNvPr>
          <p:cNvSpPr txBox="1"/>
          <p:nvPr/>
        </p:nvSpPr>
        <p:spPr>
          <a:xfrm>
            <a:off x="380998" y="1769936"/>
            <a:ext cx="325120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55650" lvl="1" indent="-285750">
              <a:lnSpc>
                <a:spcPct val="100000"/>
              </a:lnSpc>
              <a:spcBef>
                <a:spcPts val="1565"/>
              </a:spcBef>
              <a:buClr>
                <a:srgbClr val="000000"/>
              </a:buClr>
              <a:buSzPct val="80952"/>
              <a:buFont typeface="Wingdings" panose="05000000000000000000" pitchFamily="2" charset="2"/>
              <a:buChar char="Ø"/>
              <a:tabLst>
                <a:tab pos="763270" algn="l"/>
              </a:tabLst>
            </a:pPr>
            <a:r>
              <a:rPr lang="en-US" sz="1600" dirty="0">
                <a:latin typeface="Arial MT"/>
                <a:cs typeface="Arial MT"/>
              </a:rPr>
              <a:t>IoT</a:t>
            </a:r>
            <a:r>
              <a:rPr lang="en-US" sz="1600" spc="20" dirty="0">
                <a:latin typeface="Arial MT"/>
                <a:cs typeface="Arial MT"/>
              </a:rPr>
              <a:t> </a:t>
            </a:r>
            <a:r>
              <a:rPr lang="en-US" sz="1600" spc="-10" dirty="0">
                <a:latin typeface="Arial MT"/>
                <a:cs typeface="Arial MT"/>
              </a:rPr>
              <a:t>devices</a:t>
            </a:r>
            <a:endParaRPr lang="en-US" sz="16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 MT"/>
              <a:buChar char="○"/>
            </a:pPr>
            <a:endParaRPr lang="en-US" sz="1600" dirty="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SzPct val="80952"/>
              <a:buFont typeface="Wingdings" panose="05000000000000000000" pitchFamily="2" charset="2"/>
              <a:buChar char="Ø"/>
              <a:tabLst>
                <a:tab pos="763270" algn="l"/>
              </a:tabLst>
            </a:pPr>
            <a:r>
              <a:rPr lang="en-US" sz="1600" dirty="0">
                <a:latin typeface="Arial MT"/>
                <a:cs typeface="Arial MT"/>
              </a:rPr>
              <a:t>Biomedical</a:t>
            </a:r>
            <a:r>
              <a:rPr lang="en-US" sz="1600" spc="60" dirty="0">
                <a:latin typeface="Arial MT"/>
                <a:cs typeface="Arial MT"/>
              </a:rPr>
              <a:t> </a:t>
            </a:r>
            <a:r>
              <a:rPr lang="en-US" sz="1600" spc="-10" dirty="0">
                <a:latin typeface="Arial MT"/>
                <a:cs typeface="Arial MT"/>
              </a:rPr>
              <a:t>systems</a:t>
            </a:r>
            <a:endParaRPr lang="en-US" sz="16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 MT"/>
              <a:buChar char="○"/>
            </a:pPr>
            <a:endParaRPr lang="en-US" sz="1600" dirty="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buClr>
                <a:srgbClr val="000000"/>
              </a:buClr>
              <a:buSzPct val="80952"/>
              <a:buFont typeface="Wingdings" panose="05000000000000000000" pitchFamily="2" charset="2"/>
              <a:buChar char="Ø"/>
              <a:tabLst>
                <a:tab pos="763270" algn="l"/>
              </a:tabLst>
            </a:pPr>
            <a:r>
              <a:rPr lang="en-US" sz="1600" dirty="0">
                <a:latin typeface="Arial MT"/>
                <a:cs typeface="Arial MT"/>
              </a:rPr>
              <a:t>Embedded</a:t>
            </a:r>
            <a:r>
              <a:rPr lang="en-US" sz="1600" spc="70" dirty="0">
                <a:latin typeface="Arial MT"/>
                <a:cs typeface="Arial MT"/>
              </a:rPr>
              <a:t> </a:t>
            </a:r>
            <a:r>
              <a:rPr lang="en-US" sz="1600" spc="-10" dirty="0">
                <a:latin typeface="Arial MT"/>
                <a:cs typeface="Arial MT"/>
              </a:rPr>
              <a:t>systems</a:t>
            </a:r>
            <a:endParaRPr lang="en-US" sz="1600" dirty="0">
              <a:latin typeface="Arial MT"/>
              <a:cs typeface="Arial MT"/>
            </a:endParaRPr>
          </a:p>
          <a:p>
            <a:endParaRPr lang="en-IN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Advantages of Our Approach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14630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48CAE4"/>
                </a:solidFill>
                <a:latin typeface="Calibri"/>
              </a:rPr>
              <a:t>Low Power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9019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D4"/>
                </a:solidFill>
                <a:latin typeface="Calibri"/>
              </a:rPr>
              <a:t>Compared to flash ADC architecture, SAR consumes significantly less power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1247120" cy="1005840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08760" y="26517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48CAE4"/>
                </a:solidFill>
                <a:latin typeface="Calibri"/>
              </a:rPr>
              <a:t>Scalable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09067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D4"/>
                </a:solidFill>
                <a:latin typeface="Calibri"/>
              </a:rPr>
              <a:t>N-bit resolution easily adjusted by modifying bit count in Verilog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49040"/>
            <a:ext cx="11247120" cy="1005840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08760" y="38404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48CAE4"/>
                </a:solidFill>
                <a:latin typeface="Calibri"/>
              </a:rPr>
              <a:t>Digital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7939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D4"/>
                </a:solidFill>
                <a:latin typeface="Calibri"/>
              </a:rPr>
              <a:t>Fully digital controller is easy to debug, modify, and extend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37760"/>
            <a:ext cx="11247120" cy="1005840"/>
          </a:xfrm>
          <a:prstGeom prst="rect">
            <a:avLst/>
          </a:prstGeom>
          <a:solidFill>
            <a:srgbClr val="1626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08760" y="50292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48CAE4"/>
                </a:solidFill>
                <a:latin typeface="Calibri"/>
              </a:rPr>
              <a:t>FPGA-Based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6811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D4"/>
                </a:solidFill>
                <a:latin typeface="Calibri"/>
              </a:rPr>
              <a:t>Rapid prototyping and real-time testing without physical ADC hardware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31752" y="6537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BD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13716"/>
            <a:ext cx="12188952" cy="91440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47088"/>
            <a:ext cx="11247120" cy="1554480"/>
          </a:xfrm>
          <a:prstGeom prst="rect">
            <a:avLst/>
          </a:prstGeom>
          <a:solidFill>
            <a:srgbClr val="16263B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91440" cy="1554480"/>
          </a:xfrm>
          <a:prstGeom prst="rect">
            <a:avLst/>
          </a:prstGeom>
          <a:solidFill>
            <a:srgbClr val="F7C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212848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7C548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86000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48CAE4"/>
                </a:solidFill>
                <a:latin typeface="Calibri"/>
              </a:rPr>
              <a:t>SAR-Assisted Pipeline ADC</a:t>
            </a:r>
            <a:r>
              <a:rPr lang="en-IN" b="1" dirty="0">
                <a:solidFill>
                  <a:srgbClr val="48CAE4"/>
                </a:solidFill>
                <a:latin typeface="Calibri"/>
              </a:rPr>
              <a:t> : </a:t>
            </a:r>
            <a:r>
              <a:rPr lang="en-IN" dirty="0">
                <a:solidFill>
                  <a:schemeClr val="bg1"/>
                </a:solidFill>
                <a:latin typeface="Calibri"/>
              </a:rPr>
              <a:t>Combine SAR with pipelining for higher throughput and speed</a:t>
            </a:r>
            <a:endParaRPr sz="180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11247120" cy="1554480"/>
          </a:xfrm>
          <a:prstGeom prst="rect">
            <a:avLst/>
          </a:prstGeom>
          <a:solidFill>
            <a:srgbClr val="16263B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91440" cy="1554480"/>
          </a:xfrm>
          <a:prstGeom prst="rect">
            <a:avLst/>
          </a:prstGeom>
          <a:solidFill>
            <a:srgbClr val="F7C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077547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7C548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142232"/>
            <a:ext cx="9875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48CAE4"/>
                </a:solidFill>
                <a:latin typeface="Calibri"/>
              </a:rPr>
              <a:t>RISC-Assisted SAR ADC</a:t>
            </a:r>
            <a:r>
              <a:rPr lang="en-IN" b="1" dirty="0">
                <a:solidFill>
                  <a:srgbClr val="48CAE4"/>
                </a:solidFill>
                <a:latin typeface="Calibri"/>
              </a:rPr>
              <a:t> : </a:t>
            </a:r>
            <a:r>
              <a:rPr lang="en-IN" dirty="0">
                <a:solidFill>
                  <a:schemeClr val="bg1"/>
                </a:solidFill>
                <a:latin typeface="Calibri"/>
              </a:rPr>
              <a:t>Integrate a RISC-V soft processor to dynamically control SAR conversion and 						 calibrate in real time</a:t>
            </a:r>
            <a:endParaRPr sz="180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-127000" y="5577840"/>
            <a:ext cx="11247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FF0000"/>
                </a:solidFill>
                <a:latin typeface="Calibri"/>
              </a:rPr>
              <a:t>T</a:t>
            </a:r>
            <a:r>
              <a:rPr lang="en-IN" sz="3600" b="1" i="0" dirty="0">
                <a:solidFill>
                  <a:srgbClr val="FF0000"/>
                </a:solidFill>
                <a:latin typeface="Calibri"/>
              </a:rPr>
              <a:t>HANK</a:t>
            </a:r>
            <a:r>
              <a:rPr sz="3600" b="1" i="0" dirty="0">
                <a:solidFill>
                  <a:srgbClr val="FF0000"/>
                </a:solidFill>
                <a:latin typeface="Calibri"/>
              </a:rPr>
              <a:t> </a:t>
            </a:r>
            <a:r>
              <a:rPr lang="en-IN" sz="3600" b="1" i="0" dirty="0">
                <a:solidFill>
                  <a:srgbClr val="FF0000"/>
                </a:solidFill>
                <a:latin typeface="Calibri"/>
              </a:rPr>
              <a:t>YOU</a:t>
            </a:r>
            <a:r>
              <a:rPr sz="3600" b="1" i="0" dirty="0">
                <a:solidFill>
                  <a:srgbClr val="FF0000"/>
                </a:solidFill>
                <a:latin typeface="Calibri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31752" y="6537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BD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129</TotalTime>
  <Words>942</Words>
  <Application>Microsoft Office PowerPoint</Application>
  <PresentationFormat>Custom</PresentationFormat>
  <Paragraphs>191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Arial MT</vt:lpstr>
      <vt:lpstr>Bahnschrift SemiLight SemiConde</vt:lpstr>
      <vt:lpstr>Calibri</vt:lpstr>
      <vt:lpstr>Tw Cen MT</vt:lpstr>
      <vt:lpstr>Wingdings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Sanjay Kumar</cp:lastModifiedBy>
  <cp:revision>4</cp:revision>
  <dcterms:created xsi:type="dcterms:W3CDTF">2013-01-27T09:14:16Z</dcterms:created>
  <dcterms:modified xsi:type="dcterms:W3CDTF">2026-05-03T19:16:58Z</dcterms:modified>
  <cp:category/>
</cp:coreProperties>
</file>